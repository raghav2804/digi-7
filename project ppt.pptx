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esley Black" panose="020B0604020202020204" charset="0"/>
      <p:regular r:id="rId13"/>
    </p:embeddedFont>
    <p:embeddedFont>
      <p:font typeface="Besley Bold" panose="020B0604020202020204" charset="0"/>
      <p:regular r:id="rId14"/>
    </p:embeddedFont>
    <p:embeddedFont>
      <p:font typeface="Besley ExtraBold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Marcellus SC" panose="020B0604020202020204" charset="0"/>
      <p:regular r:id="rId20"/>
    </p:embeddedFont>
    <p:embeddedFont>
      <p:font typeface="Neue Haas Grotesk Text Pro" panose="020B0504020202020204" pitchFamily="34" charset="0"/>
      <p:regular r:id="rId21"/>
      <p:bold r:id="rId22"/>
      <p:italic r:id="rId23"/>
      <p:boldItalic r:id="rId24"/>
    </p:embeddedFont>
    <p:embeddedFont>
      <p:font typeface="Pinyon Script" panose="020B0604020202020204" charset="0"/>
      <p:regular r:id="rId25"/>
    </p:embeddedFont>
    <p:embeddedFont>
      <p:font typeface="Proza Libre" panose="020B0604020202020204" charset="0"/>
      <p:regular r:id="rId26"/>
    </p:embeddedFont>
    <p:embeddedFont>
      <p:font typeface="Proza Libre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25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Disaster Tweet Classification Using NLP and Machine Learning, completed during the internship at Nexthikes and submitted by Rawech Arora.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context: social platforms provide critical real-time alerts, but manual filtering is slow. NLP and machine learning automate identifying genuine disaster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acute challenge of high-volume emergency noise with our clear engineering objectives: text transformation, training, evaluation, and end-to-end web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corpus structure: 7,613 tweets across 5 feature columns, with binary target labels 0 representing non-disaster and 1 indicating genuine disaster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engineering stack from core scientific Python, Scikit-learn, and TF-IDF through serialization with Joblib and web serving using Flask.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nine sequential methodology steps from data ingestion and train-test partitioning through TF-IDF representation, model training, evaluation, and web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overall system architecture from input tweets.csv through vectorization and model inference down to Flask real-time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evaluation figures: 81.42% overall test accuracy, high non-disaster recall at 0.90, and disaster precision of 0.84, with reserved visual placement for the confusion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interactive Flask web application, showing text input processing via serialized TF-IDF and Logistic Regression prediction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 by summarizing core accomplishments and outlining prospective extensions including transformer models like BERT, multilingual classification, and live stream ingestion.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97621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789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519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07814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636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0139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0471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8776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937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6006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660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8439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75409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2578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70734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9067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26226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2467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35976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364504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9462293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10673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09592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15653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80652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546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538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9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33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851" y="0"/>
            <a:ext cx="622284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383" y="561578"/>
            <a:ext cx="59434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8A611B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Internship Project Presentation · Nexthikes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60383" y="1409700"/>
            <a:ext cx="6349841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Black" pitchFamily="34" charset="0"/>
                <a:ea typeface="Besley Black" pitchFamily="34" charset="-122"/>
                <a:cs typeface="Besley Black" pitchFamily="34" charset="-120"/>
              </a:rPr>
              <a:t>Disaster Tweet</a:t>
            </a:r>
            <a:endParaRPr lang="en-US" sz="4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Black" pitchFamily="34" charset="0"/>
                <a:ea typeface="Besley Black" pitchFamily="34" charset="-122"/>
                <a:cs typeface="Besley Black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61981" y="3022600"/>
            <a:ext cx="5486263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800" dirty="0">
                <a:solidFill>
                  <a:srgbClr val="26231F"/>
                </a:solidFill>
                <a:latin typeface="Pinyon Script" pitchFamily="34" charset="0"/>
                <a:ea typeface="Pinyon Script" pitchFamily="34" charset="-122"/>
                <a:cs typeface="Pinyon Script" pitchFamily="34" charset="-120"/>
              </a:rPr>
              <a:t>Using NLP and Machine Learning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60383" y="457200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7" name="Text 4"/>
          <p:cNvSpPr/>
          <p:nvPr/>
        </p:nvSpPr>
        <p:spPr>
          <a:xfrm>
            <a:off x="660383" y="4838700"/>
            <a:ext cx="5587860" cy="133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Internship Project Presentation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Organization: Nexthikes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Submitted by</a:t>
            </a:r>
            <a:r>
              <a:rPr lang="en-US" sz="160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: Raghav </a:t>
            </a: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Arora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Technology: Python, NLP, Machine Learning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42315"/>
            <a:ext cx="5328807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0383" y="150108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4" name="Text 2"/>
          <p:cNvSpPr/>
          <p:nvPr/>
        </p:nvSpPr>
        <p:spPr>
          <a:xfrm>
            <a:off x="660383" y="2319337"/>
            <a:ext cx="5328807" cy="314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Social media platforms provide real-time information during disasters.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Identifying disaster-related tweets manually is time-consuming.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Natural Language Processing (NLP) helps computers understand text.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Machine Learning classifies tweets into disaster and non-disaster categories.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This project automates tweet classification using text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67046" y="1277640"/>
            <a:ext cx="3764265" cy="3764359"/>
          </a:xfrm>
          <a:prstGeom prst="rect">
            <a:avLst/>
          </a:prstGeom>
          <a:noFill/>
          <a:ln w="12700">
            <a:solidFill>
              <a:srgbClr val="C3933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046" y="1277640"/>
            <a:ext cx="3764265" cy="37643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67046" y="5168999"/>
            <a:ext cx="376426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i="1" dirty="0">
                <a:solidFill>
                  <a:srgbClr val="6A5F50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Illustration · Urgent dispatch and emergency communication signals.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801180" y="6507361"/>
            <a:ext cx="3905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26231F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42315"/>
            <a:ext cx="1087092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Problem Statement and Objectives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0383" y="150108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4" name="Shape 2"/>
          <p:cNvSpPr/>
          <p:nvPr/>
        </p:nvSpPr>
        <p:spPr>
          <a:xfrm>
            <a:off x="660383" y="2118618"/>
            <a:ext cx="4512654" cy="3550444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0727" y="2486283"/>
            <a:ext cx="3991967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20727" y="3704729"/>
            <a:ext cx="3991967" cy="1523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A large number of tweets are generated during emergencies.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It is difficult to identify genuine disaster-related information manually.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30126" y="2118618"/>
            <a:ext cx="5901086" cy="3550444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0470" y="2486283"/>
            <a:ext cx="538039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Objectives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890470" y="3118048"/>
            <a:ext cx="5380399" cy="226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Classify tweets into disaster and non-disaster categories.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Process text using TF-IDF vectorization.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Train a Logistic Regression model.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Evaluate model performance.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Develop a web application for user input and prediction.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04950" y="6507361"/>
            <a:ext cx="38674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26231F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61365"/>
            <a:ext cx="10870928" cy="72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81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Dataset Description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60383" y="163443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4" name="Shape 2"/>
          <p:cNvSpPr/>
          <p:nvPr/>
        </p:nvSpPr>
        <p:spPr>
          <a:xfrm>
            <a:off x="660383" y="2493466"/>
            <a:ext cx="6248244" cy="2846983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26" y="2931616"/>
            <a:ext cx="5625959" cy="2097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Dataset file: </a:t>
            </a: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tweets.csv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Total records: 7,613 tweets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Total columns: 5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Columns: </a:t>
            </a: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, </a:t>
            </a: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keyword</a:t>
            </a: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, </a:t>
            </a: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, </a:t>
            </a: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, </a:t>
            </a: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: Contains the tweet content.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: Contains the classification label.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65717" y="2493466"/>
            <a:ext cx="4165496" cy="2934097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76859" y="2886531"/>
            <a:ext cx="3543211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Target Labels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676859" y="4230390"/>
            <a:ext cx="1169165" cy="31651"/>
          </a:xfrm>
          <a:prstGeom prst="roundRect">
            <a:avLst>
              <a:gd name="adj" fmla="val 49998"/>
            </a:avLst>
          </a:prstGeom>
          <a:solidFill>
            <a:srgbClr val="C39331"/>
          </a:solidFill>
          <a:ln/>
        </p:spPr>
      </p:sp>
      <p:sp>
        <p:nvSpPr>
          <p:cNvPr id="9" name="Text 7"/>
          <p:cNvSpPr/>
          <p:nvPr/>
        </p:nvSpPr>
        <p:spPr>
          <a:xfrm>
            <a:off x="7676859" y="4438352"/>
            <a:ext cx="3543211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 – Non-disaster tweet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highlight>
                  <a:srgbClr val="FDFB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 – Disaster-related tweet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95723" y="6507361"/>
            <a:ext cx="39597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26231F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42315"/>
            <a:ext cx="1087092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Tools and Technologies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0383" y="150108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1774130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67825" y="1774130"/>
            <a:ext cx="427562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Programming Language: Python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2748161"/>
            <a:ext cx="406390" cy="40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7825" y="2748161"/>
            <a:ext cx="427562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Data Handling: Pandas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83" y="3722191"/>
            <a:ext cx="406390" cy="406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67825" y="3722191"/>
            <a:ext cx="427562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Machine Learning: Scikit-learn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83" y="4696222"/>
            <a:ext cx="406390" cy="406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67825" y="4696222"/>
            <a:ext cx="427562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Text Vectorization: TF-IDF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244" y="1774130"/>
            <a:ext cx="406390" cy="4064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255686" y="1774130"/>
            <a:ext cx="42756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Classification Algorithm: Logistic Regression</a:t>
            </a:r>
            <a:endParaRPr lang="en-US" sz="16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244" y="2748161"/>
            <a:ext cx="406390" cy="4064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255686" y="2748161"/>
            <a:ext cx="427562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Model Saving: Joblib</a:t>
            </a:r>
            <a:endParaRPr lang="en-US" sz="16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244" y="3722191"/>
            <a:ext cx="406390" cy="4064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255686" y="3722191"/>
            <a:ext cx="427562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Visualization: Matplotlib and Seaborn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244" y="4696222"/>
            <a:ext cx="406390" cy="4064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255686" y="4696222"/>
            <a:ext cx="42756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Web Framework: Flask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Frontend: HTML and CSS</a:t>
            </a:r>
            <a:endParaRPr lang="en-US" sz="1600" dirty="0"/>
          </a:p>
        </p:txBody>
      </p:sp>
      <p:sp>
        <p:nvSpPr>
          <p:cNvPr id="20" name="Text 10"/>
          <p:cNvSpPr/>
          <p:nvPr/>
        </p:nvSpPr>
        <p:spPr>
          <a:xfrm>
            <a:off x="11810010" y="6507361"/>
            <a:ext cx="38168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26231F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42315"/>
            <a:ext cx="1087092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Methodology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0383" y="150108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4" name="Shape 2"/>
          <p:cNvSpPr/>
          <p:nvPr/>
        </p:nvSpPr>
        <p:spPr>
          <a:xfrm>
            <a:off x="660383" y="2091035"/>
            <a:ext cx="3547378" cy="852091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529" y="2249785"/>
            <a:ext cx="431591" cy="3556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126" y="2332335"/>
            <a:ext cx="837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8A611B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7717" y="2311539"/>
            <a:ext cx="2645899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kern="100" spc="-8" dirty="0">
                <a:solidFill>
                  <a:srgbClr val="2D4634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Load the dataset using Pandas.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0158" y="2091035"/>
            <a:ext cx="3471280" cy="852091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304" y="2249785"/>
            <a:ext cx="446572" cy="3556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901" y="2332335"/>
            <a:ext cx="8529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8A611B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92473" y="2311539"/>
            <a:ext cx="2554819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kern="100" spc="-8" dirty="0">
                <a:solidFill>
                  <a:srgbClr val="2D4634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Inspect the dataset and target labels.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83834" y="2091035"/>
            <a:ext cx="3547378" cy="852091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67979" y="2249785"/>
            <a:ext cx="433774" cy="3556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9577" y="2332335"/>
            <a:ext cx="8401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8A611B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03350" y="2311539"/>
            <a:ext cx="2643717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kern="100" spc="-8" dirty="0">
                <a:solidFill>
                  <a:srgbClr val="2D4634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Separate tweet text and target values.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0383" y="3095427"/>
            <a:ext cx="3547378" cy="1100336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4529" y="3254177"/>
            <a:ext cx="438238" cy="3556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126" y="3336727"/>
            <a:ext cx="84462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8A611B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4365" y="3315930"/>
            <a:ext cx="2639252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kern="100" spc="-8" dirty="0">
                <a:solidFill>
                  <a:srgbClr val="2D4634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Split the dataset into 80% training data and 20% testing data.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60158" y="3095427"/>
            <a:ext cx="3471280" cy="1100336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304" y="3254177"/>
            <a:ext cx="435361" cy="3556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901" y="3336727"/>
            <a:ext cx="8417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8A611B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81262" y="3315930"/>
            <a:ext cx="2566030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kern="100" spc="-8" dirty="0">
                <a:solidFill>
                  <a:srgbClr val="2D4634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Convert text into numerical features using TF-IDF.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983834" y="3095427"/>
            <a:ext cx="3547378" cy="1100336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67979" y="3254177"/>
            <a:ext cx="440123" cy="3556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9577" y="3336727"/>
            <a:ext cx="8465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8A611B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09700" y="3315930"/>
            <a:ext cx="2637367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kern="100" spc="-8" dirty="0">
                <a:solidFill>
                  <a:srgbClr val="2D4634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Train the Logistic Regression classifier.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60383" y="4348063"/>
            <a:ext cx="3547378" cy="1348581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4529" y="4506813"/>
            <a:ext cx="431690" cy="3556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6126" y="4589363"/>
            <a:ext cx="8380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8A611B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7816" y="4568567"/>
            <a:ext cx="2645800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kern="100" spc="-8" dirty="0">
                <a:solidFill>
                  <a:srgbClr val="2D4634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Evaluate the model using accuracy, precision, recall, and F1-score.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360158" y="4348063"/>
            <a:ext cx="3471280" cy="1348581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4304" y="4506813"/>
            <a:ext cx="436353" cy="3556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901" y="4589363"/>
            <a:ext cx="8427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8A611B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82254" y="4568567"/>
            <a:ext cx="2565038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kern="100" spc="-8" dirty="0">
                <a:solidFill>
                  <a:srgbClr val="2D4634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Save the trained model and vectorizer.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983834" y="4348063"/>
            <a:ext cx="3547378" cy="1348581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67979" y="4506813"/>
            <a:ext cx="440123" cy="3556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69577" y="4589363"/>
            <a:ext cx="8465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8A611B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09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709700" y="4568567"/>
            <a:ext cx="2637367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kern="100" spc="-8" dirty="0">
                <a:solidFill>
                  <a:srgbClr val="2D4634"/>
                </a:solidFill>
                <a:latin typeface="Besley Bold" pitchFamily="34" charset="0"/>
                <a:ea typeface="Besley Bold" pitchFamily="34" charset="-122"/>
                <a:cs typeface="Besley Bold" pitchFamily="34" charset="-120"/>
              </a:rPr>
              <a:t>Integrate the model into a Flask web application.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1797707" y="6507361"/>
            <a:ext cx="39398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26231F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285" y="235285"/>
            <a:ext cx="10870928" cy="72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5400" kern="100" spc="-81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System Architecture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36581" y="90893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32" name="Text 30"/>
          <p:cNvSpPr/>
          <p:nvPr/>
        </p:nvSpPr>
        <p:spPr>
          <a:xfrm>
            <a:off x="11806934" y="6507361"/>
            <a:ext cx="38476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26231F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07</a:t>
            </a:r>
            <a:endParaRPr lang="en-US" sz="10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5389BEA-9CBA-16FC-E047-FDCD3148E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08" y="1346461"/>
            <a:ext cx="11377726" cy="5160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42315"/>
            <a:ext cx="1087092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Results and Evaluation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0383" y="150108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4" name="Shape 2"/>
          <p:cNvSpPr/>
          <p:nvPr/>
        </p:nvSpPr>
        <p:spPr>
          <a:xfrm>
            <a:off x="660383" y="1774130"/>
            <a:ext cx="5283068" cy="1596330"/>
          </a:xfrm>
          <a:prstGeom prst="rect">
            <a:avLst/>
          </a:prstGeom>
          <a:noFill/>
          <a:ln w="25399">
            <a:solidFill>
              <a:srgbClr val="C393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8978" y="1980109"/>
            <a:ext cx="505447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8A611B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Primary Metric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88978" y="2334518"/>
            <a:ext cx="48258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kern="100" spc="-72" dirty="0">
                <a:solidFill>
                  <a:srgbClr val="2D4634"/>
                </a:solidFill>
                <a:latin typeface="Besley Black" pitchFamily="34" charset="0"/>
                <a:ea typeface="Besley Black" pitchFamily="34" charset="-122"/>
                <a:cs typeface="Besley Black" pitchFamily="34" charset="-120"/>
              </a:rPr>
              <a:t>81.42%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88978" y="2918718"/>
            <a:ext cx="5054474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Model Accuracy: 81.42%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83" y="3491111"/>
          <a:ext cx="5283068" cy="2444391"/>
        </p:xfrm>
        <a:graphic>
          <a:graphicData uri="http://schemas.openxmlformats.org/drawingml/2006/table">
            <a:tbl>
              <a:tblPr/>
              <a:tblGrid>
                <a:gridCol w="1796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0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96" dirty="0">
                          <a:solidFill>
                            <a:srgbClr val="8A611B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Metric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96" dirty="0">
                          <a:solidFill>
                            <a:srgbClr val="8A611B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Non-disaster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96" dirty="0">
                          <a:solidFill>
                            <a:srgbClr val="8A611B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Disaster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6231F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Precision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6231F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0.80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6231F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0.84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6231F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Recall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6231F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0.90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6231F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0.70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5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6231F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F1-score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6231F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0.85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6231F"/>
                          </a:solidFill>
                          <a:latin typeface="Proza Libre" pitchFamily="34" charset="0"/>
                          <a:ea typeface="Proza Libre" pitchFamily="34" charset="-122"/>
                          <a:cs typeface="Proza Libre" pitchFamily="34" charset="-120"/>
                        </a:rPr>
                        <a:t>0.76</a:t>
                      </a:r>
                      <a:endParaRPr lang="en-US" sz="1600" dirty="0">
                        <a:latin typeface="Proza Libre" charset="0"/>
                        <a:ea typeface="Proza Libre" charset="0"/>
                        <a:cs typeface="Proza Libre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B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6248244" y="1328995"/>
            <a:ext cx="5283068" cy="2501900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48244" y="3945195"/>
            <a:ext cx="528306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Observations</a:t>
            </a:r>
            <a:endParaRPr lang="en-US" sz="4400" dirty="0"/>
          </a:p>
        </p:txBody>
      </p:sp>
      <p:sp>
        <p:nvSpPr>
          <p:cNvPr id="15" name="Text 11"/>
          <p:cNvSpPr/>
          <p:nvPr/>
        </p:nvSpPr>
        <p:spPr>
          <a:xfrm>
            <a:off x="6248244" y="4653161"/>
            <a:ext cx="5283068" cy="1574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The model achieved 81.42% accuracy on the test dataset.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It performed better at identifying non-disaster tweets by recall.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Disaster tweet recall can be improved further.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800386" y="6507361"/>
            <a:ext cx="391309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26231F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08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144726C-E9D7-7CD7-BDC8-EF7F02ABB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1328995"/>
            <a:ext cx="5283068" cy="2501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42315"/>
            <a:ext cx="1087092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Web Application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0383" y="150108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4" name="Text 2"/>
          <p:cNvSpPr/>
          <p:nvPr/>
        </p:nvSpPr>
        <p:spPr>
          <a:xfrm>
            <a:off x="567077" y="1588700"/>
            <a:ext cx="72896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8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Flask-Based Tweet Classification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0383" y="3231952"/>
            <a:ext cx="7289618" cy="1676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Provides a simple interface for entering tweet text.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Converts the input text using the saved TF-IDF vectorizer.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Uses the trained model to predict the category.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Displays either Disaster-related or Non-disaster.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Allows users to test different tweets.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4841" y="5035054"/>
            <a:ext cx="6329265" cy="897136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700" y="5167649"/>
            <a:ext cx="6921327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6231F"/>
                </a:solidFill>
                <a:latin typeface="Proza Libre Bold" pitchFamily="34" charset="0"/>
                <a:ea typeface="Proza Libre Bold" pitchFamily="34" charset="-122"/>
                <a:cs typeface="Proza Libre Bold" pitchFamily="34" charset="-120"/>
              </a:rPr>
              <a:t>Example Input:</a:t>
            </a:r>
            <a:r>
              <a:rPr lang="en-US" sz="135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 “Flood water is rising in the nearby streets.”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26231F"/>
                </a:solidFill>
                <a:latin typeface="Proza Libre Bold" pitchFamily="34" charset="0"/>
                <a:ea typeface="Proza Libre Bold" pitchFamily="34" charset="-122"/>
                <a:cs typeface="Proza Libre Bold" pitchFamily="34" charset="-120"/>
              </a:rPr>
              <a:t>Expected Output:</a:t>
            </a:r>
            <a:r>
              <a:rPr lang="en-US" sz="135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 </a:t>
            </a:r>
            <a:r>
              <a:rPr lang="en-US" sz="1350" dirty="0">
                <a:solidFill>
                  <a:srgbClr val="8A611B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Disaster-related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88630" y="1328995"/>
            <a:ext cx="5038530" cy="5140266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98203" y="6507361"/>
            <a:ext cx="39349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26231F"/>
                </a:solidFill>
                <a:latin typeface="Marcellus SC" pitchFamily="34" charset="0"/>
                <a:ea typeface="Marcellus SC" pitchFamily="34" charset="-122"/>
                <a:cs typeface="Marcellus SC" pitchFamily="34" charset="-120"/>
              </a:rPr>
              <a:t>09</a:t>
            </a:r>
            <a:endParaRPr lang="en-US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2D959C-64AB-F68A-298E-F1186CC60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630" y="1328995"/>
            <a:ext cx="5038529" cy="51402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61365"/>
            <a:ext cx="10870928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81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Conclusion and Future Scope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60383" y="2309376"/>
            <a:ext cx="520687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60383" y="3068141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5" name="Shape 3"/>
          <p:cNvSpPr/>
          <p:nvPr/>
        </p:nvSpPr>
        <p:spPr>
          <a:xfrm>
            <a:off x="660383" y="3284041"/>
            <a:ext cx="5206870" cy="2582763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9928" y="3468191"/>
            <a:ext cx="4787780" cy="22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Developed a tweet classification system using NLP and Machine Learning.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Used TF-IDF and Logistic Regression for text classification.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Achieved 81.42% test accuracy.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Integrated the model into a Flask web application.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442" y="2309376"/>
            <a:ext cx="520687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400" kern="100" spc="-66" dirty="0">
                <a:solidFill>
                  <a:srgbClr val="2D4634"/>
                </a:solidFill>
                <a:latin typeface="Besley ExtraBold" pitchFamily="34" charset="0"/>
                <a:ea typeface="Besley ExtraBold" pitchFamily="34" charset="-122"/>
                <a:cs typeface="Besley ExtraBold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324442" y="3068141"/>
            <a:ext cx="558786" cy="38100"/>
          </a:xfrm>
          <a:prstGeom prst="roundRect">
            <a:avLst>
              <a:gd name="adj" fmla="val 49999"/>
            </a:avLst>
          </a:prstGeom>
          <a:solidFill>
            <a:srgbClr val="C39331"/>
          </a:solidFill>
          <a:ln/>
        </p:spPr>
      </p:sp>
      <p:sp>
        <p:nvSpPr>
          <p:cNvPr id="9" name="Shape 7"/>
          <p:cNvSpPr/>
          <p:nvPr/>
        </p:nvSpPr>
        <p:spPr>
          <a:xfrm>
            <a:off x="6324442" y="3284041"/>
            <a:ext cx="5206870" cy="2338983"/>
          </a:xfrm>
          <a:prstGeom prst="rect">
            <a:avLst/>
          </a:prstGeom>
          <a:noFill/>
          <a:ln w="6350">
            <a:solidFill>
              <a:srgbClr val="C393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3987" y="3468191"/>
            <a:ext cx="4787780" cy="1970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Experiment with advanced NLP models such as BERT.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Improve disaster tweet recall.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Support multiple languages.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Integrate real-time tweet collection.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26231F"/>
                </a:solidFill>
                <a:latin typeface="Proza Libre" pitchFamily="34" charset="0"/>
                <a:ea typeface="Proza Libre" pitchFamily="34" charset="-122"/>
                <a:cs typeface="Proza Libre" pitchFamily="34" charset="-120"/>
              </a:rPr>
              <a:t>Extend the system for disaster monitoring.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10</TotalTime>
  <Words>790</Words>
  <Application>Microsoft Office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Marcellus SC</vt:lpstr>
      <vt:lpstr>Besley Black</vt:lpstr>
      <vt:lpstr>Besley Bold</vt:lpstr>
      <vt:lpstr>Consolas</vt:lpstr>
      <vt:lpstr>Pinyon Script</vt:lpstr>
      <vt:lpstr>Neue Haas Grotesk Text Pro</vt:lpstr>
      <vt:lpstr>Besley ExtraBold</vt:lpstr>
      <vt:lpstr>Proza Libre</vt:lpstr>
      <vt:lpstr>Proza Libre Bold</vt:lpstr>
      <vt:lpstr>Arial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Sanchit</dc:creator>
  <cp:lastModifiedBy>Raghav  Arora</cp:lastModifiedBy>
  <cp:revision>2</cp:revision>
  <dcterms:created xsi:type="dcterms:W3CDTF">2026-10-12T14:24:02Z</dcterms:created>
  <dcterms:modified xsi:type="dcterms:W3CDTF">2026-10-12T14:35:12Z</dcterms:modified>
</cp:coreProperties>
</file>